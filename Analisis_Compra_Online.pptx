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Sesiones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1EE-124E-AB42-56E9A248B3B0}"/>
              </c:ext>
            </c:extLst>
          </c:dPt>
          <c:dPt>
            <c:idx val="1"/>
            <c:bubble3D val="0"/>
            <c:spPr>
              <a:solidFill>
                <a:srgbClr val="F4A4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EE-124E-AB42-56E9A248B3B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EE-124E-AB42-56E9A248B3B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EE-124E-AB42-56E9A248B3B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Compra (84.5%)</c:v>
                </c:pt>
                <c:pt idx="1">
                  <c:v>Compra (15.5%)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84.5</c:v>
                </c:pt>
                <c:pt idx="1">
                  <c:v>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EE-124E-AB42-56E9A248B3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5F8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6B"/>
                </a:solidFill>
                <a:latin typeface="Arial"/>
              </a:defRPr>
            </a:pPr>
            <a:r>
              <a:rPr lang="es-CO" sz="1200" b="0" i="0" u="none" strike="noStrike">
                <a:solidFill>
                  <a:srgbClr val="1B2A6B"/>
                </a:solidFill>
                <a:latin typeface="Arial"/>
              </a:rPr>
              <a:t>Sesiones por mes vs. compras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Sesiones totales</c:v>
                </c:pt>
              </c:strCache>
            </c:strRef>
          </c:tx>
          <c:spPr>
            <a:solidFill>
              <a:srgbClr val="2D6FBF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Feb</c:v>
                </c:pt>
                <c:pt idx="1">
                  <c:v>Mar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Ago</c:v>
                </c:pt>
                <c:pt idx="6">
                  <c:v>Sep</c:v>
                </c:pt>
                <c:pt idx="7">
                  <c:v>Oct</c:v>
                </c:pt>
                <c:pt idx="8">
                  <c:v>Nov</c:v>
                </c:pt>
                <c:pt idx="9">
                  <c:v>Dic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181</c:v>
                </c:pt>
                <c:pt idx="1">
                  <c:v>1860</c:v>
                </c:pt>
                <c:pt idx="2">
                  <c:v>3329</c:v>
                </c:pt>
                <c:pt idx="3">
                  <c:v>285</c:v>
                </c:pt>
                <c:pt idx="4">
                  <c:v>432</c:v>
                </c:pt>
                <c:pt idx="5">
                  <c:v>433</c:v>
                </c:pt>
                <c:pt idx="6">
                  <c:v>448</c:v>
                </c:pt>
                <c:pt idx="7">
                  <c:v>549</c:v>
                </c:pt>
                <c:pt idx="8">
                  <c:v>2982</c:v>
                </c:pt>
                <c:pt idx="9">
                  <c:v>1706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62-384B-9361-09B1552161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compra (aprox.)</c:v>
                </c:pt>
              </c:strCache>
            </c:strRef>
          </c:tx>
          <c:spPr>
            <a:solidFill>
              <a:srgbClr val="F4A425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Feb</c:v>
                </c:pt>
                <c:pt idx="1">
                  <c:v>Mar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Ago</c:v>
                </c:pt>
                <c:pt idx="6">
                  <c:v>Sep</c:v>
                </c:pt>
                <c:pt idx="7">
                  <c:v>Oct</c:v>
                </c:pt>
                <c:pt idx="8">
                  <c:v>Nov</c:v>
                </c:pt>
                <c:pt idx="9">
                  <c:v>Dic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22</c:v>
                </c:pt>
                <c:pt idx="1">
                  <c:v>195</c:v>
                </c:pt>
                <c:pt idx="2">
                  <c:v>299</c:v>
                </c:pt>
                <c:pt idx="3">
                  <c:v>40</c:v>
                </c:pt>
                <c:pt idx="4">
                  <c:v>58</c:v>
                </c:pt>
                <c:pt idx="5">
                  <c:v>60</c:v>
                </c:pt>
                <c:pt idx="6">
                  <c:v>68</c:v>
                </c:pt>
                <c:pt idx="7">
                  <c:v>90</c:v>
                </c:pt>
                <c:pt idx="8">
                  <c:v>600</c:v>
                </c:pt>
                <c:pt idx="9">
                  <c:v>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62-384B-9361-09B1552161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5F8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Correlación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0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4C-6B4D-8099-620184E1171B}"/>
              </c:ext>
            </c:extLst>
          </c:dPt>
          <c:dPt>
            <c:idx val="1"/>
            <c:invertIfNegative val="0"/>
            <c:bubble3D val="0"/>
            <c:spPr>
              <a:solidFill>
                <a:srgbClr val="E0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4C-6B4D-8099-620184E1171B}"/>
              </c:ext>
            </c:extLst>
          </c:dPt>
          <c:dPt>
            <c:idx val="2"/>
            <c:invertIfNegative val="0"/>
            <c:bubble3D val="0"/>
            <c:spPr>
              <a:solidFill>
                <a:srgbClr val="2D6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C4C-6B4D-8099-620184E1171B}"/>
              </c:ext>
            </c:extLst>
          </c:dPt>
          <c:dPt>
            <c:idx val="3"/>
            <c:invertIfNegative val="0"/>
            <c:bubble3D val="0"/>
            <c:spPr>
              <a:solidFill>
                <a:srgbClr val="2D6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C4C-6B4D-8099-620184E1171B}"/>
              </c:ext>
            </c:extLst>
          </c:dPt>
          <c:dPt>
            <c:idx val="4"/>
            <c:invertIfNegative val="0"/>
            <c:bubble3D val="0"/>
            <c:spPr>
              <a:solidFill>
                <a:srgbClr val="28A0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C4C-6B4D-8099-620184E1171B}"/>
              </c:ext>
            </c:extLst>
          </c:dPt>
          <c:dPt>
            <c:idx val="5"/>
            <c:invertIfNegative val="0"/>
            <c:bubble3D val="0"/>
            <c:spPr>
              <a:solidFill>
                <a:srgbClr val="F4A4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C4C-6B4D-8099-620184E1171B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BounceRates ↔ ExitRates</c:v>
                </c:pt>
                <c:pt idx="1">
                  <c:v>ProductRelated ↔ ProductRelated_Dur.</c:v>
                </c:pt>
                <c:pt idx="2">
                  <c:v>Admin ↔ Admin_Duration</c:v>
                </c:pt>
                <c:pt idx="3">
                  <c:v>Informational ↔ Info_Duration</c:v>
                </c:pt>
                <c:pt idx="4">
                  <c:v>BounceRates ↔ Revenue</c:v>
                </c:pt>
                <c:pt idx="5">
                  <c:v>PageValues ↔ Revenue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</c:v>
                </c:pt>
                <c:pt idx="1">
                  <c:v>86</c:v>
                </c:pt>
                <c:pt idx="2">
                  <c:v>73</c:v>
                </c:pt>
                <c:pt idx="3">
                  <c:v>68</c:v>
                </c:pt>
                <c:pt idx="4">
                  <c:v>31</c:v>
                </c:pt>
                <c:pt idx="5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C4C-6B4D-8099-620184E117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8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000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4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583680" y="457200"/>
            <a:ext cx="2377440" cy="4229100"/>
          </a:xfrm>
          <a:prstGeom prst="rect">
            <a:avLst/>
          </a:prstGeom>
          <a:solidFill>
            <a:srgbClr val="2434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Comportamiento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Compra Online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Modelo Predictivo · Online Shoppers Purchasing Intention Dataset (UCI)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3200400" cy="36576"/>
          </a:xfrm>
          <a:prstGeom prst="rect">
            <a:avLst/>
          </a:prstGeom>
          <a:solidFill>
            <a:srgbClr val="F4A4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Participantes:
</a:t>
            </a: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Jimena Salazar Seguro  ·  Dubian Andrés Bueno Osorno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Catherine Ceballos Bedoya  ·  Yesenia Rivera Guzmán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0" y="4480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60000"/>
                  </a:srgbClr>
                </a:solidFill>
              </a:rPr>
              <a:t>01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425"/>
                </a:solidFill>
              </a:rPr>
              <a:t>02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965960" cy="201168"/>
          </a:xfrm>
          <a:prstGeom prst="rect">
            <a:avLst/>
          </a:prstGeom>
          <a:solidFill>
            <a:srgbClr val="F4A4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12,205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únicas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limpieza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1430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450592" y="1143000"/>
            <a:ext cx="1965960" cy="201168"/>
          </a:xfrm>
          <a:prstGeom prst="rect">
            <a:avLst/>
          </a:prstGeom>
          <a:solidFill>
            <a:srgbClr val="F4A4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450592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50592" y="2103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42032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predictoras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numéricas, 7 categ.)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1430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626864" y="1143000"/>
            <a:ext cx="1965960" cy="201168"/>
          </a:xfrm>
          <a:prstGeom prst="rect">
            <a:avLst/>
          </a:prstGeom>
          <a:solidFill>
            <a:srgbClr val="F4A4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626864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26864" y="2103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año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18304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de navegación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e-commerce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03136" y="11430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6803136" y="1143000"/>
            <a:ext cx="1965960" cy="201168"/>
          </a:xfrm>
          <a:prstGeom prst="rect">
            <a:avLst/>
          </a:prstGeom>
          <a:solidFill>
            <a:srgbClr val="F4A4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803136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03136" y="21031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85/15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94576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No Compra / Compra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(desbalance de clases)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UCI Machine Learning Repository · Sakar &amp; Kastro, 2018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Principal: Desbalance de Clases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425"/>
                </a:solidFill>
              </a:rPr>
              <a:t>03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43891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12064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0" y="15544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naive que prediga siempre 'no compra' ya alcanza 84.5% de accuracy — inútil para el negocio.
</a:t>
            </a:r>
            <a:r>
              <a:rPr lang="en-US" sz="1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debe enfocarse en detectar correctamente las compras, no solo tener accuracy alto.
</a:t>
            </a:r>
            <a:r>
              <a:rPr lang="en-US" sz="1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usó class_weight='balanced' para compensar el desbalance.
</a:t>
            </a:r>
            <a:r>
              <a:rPr lang="en-US" sz="1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clave son AUC-ROC y F1-score, no el accuracy simple.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Numéricas: Hallazgos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425"/>
                </a:solidFill>
              </a:rPr>
              <a:t>04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920240"/>
          </a:xfrm>
          <a:prstGeom prst="rect">
            <a:avLst/>
          </a:prstGeom>
          <a:solidFill>
            <a:srgbClr val="1B2A6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PageValues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más discriminante. Las sesiones con compra muestran valores significativamente mayores — captura el valor monetario de las páginas visitadas.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2976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73152" cy="1188720"/>
          </a:xfrm>
          <a:prstGeom prst="rect">
            <a:avLst/>
          </a:prstGeom>
          <a:solidFill>
            <a:srgbClr val="28A0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70916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BounceRates &amp; ExitRates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4630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0.91 — prácticamente miden lo mismo. Se combinaron en una sola variable para el modelo.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404872"/>
            <a:ext cx="42976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572000" y="2404872"/>
            <a:ext cx="73152" cy="1188720"/>
          </a:xfrm>
          <a:prstGeom prst="rect">
            <a:avLst/>
          </a:prstGeom>
          <a:solidFill>
            <a:srgbClr val="28A0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709160" y="24963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Duraciones muy sesgadas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81635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ProductRelated_Duration: media 1,206 s pero mediana 608 s. 123 outliers por encima del percentil 99.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758184"/>
            <a:ext cx="42976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572000" y="3758184"/>
            <a:ext cx="73152" cy="1188720"/>
          </a:xfrm>
          <a:prstGeom prst="rect">
            <a:avLst/>
          </a:prstGeom>
          <a:solidFill>
            <a:srgbClr val="28A0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709160" y="384962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Más del 25% sin interacción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4169664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percentil 25 es 0 en varias variables de duración — sesiones sin navegación real registrada.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009644"/>
            <a:ext cx="3471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variable sigue distribución normal (test KS, p &lt; 0.05) → se usó Spearman para correlaciones y RobustScaler para el escalado.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Categóricas: Patrones de Conversión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425"/>
                </a:solidFill>
              </a:rPr>
              <a:t>05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23560" y="1005840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5715000" y="10698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 Noviembre lidera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0" y="13898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volumen de compras — Black Friday y Cyber Monday explican el pico.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23560" y="2029968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5715000" y="209397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Visitantes recurrentes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0" y="24140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son Returning Visitors, pero los New Visitors tienen mayor tasa de conversión proporcional.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3054096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5715000" y="31181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  Semana vs. fin de semana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0" y="34381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de sesiones son entre semana, pero no hay diferencia marcada en la tasa de conversión.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23560" y="4078224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5715000" y="41422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Tipo de tráfico 8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15000" y="44622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minoritario, muestra la mayor tasa de conversión relativa — vale investigar su origen.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Correlaciones entre Variables (Spearman)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425"/>
                </a:solidFill>
              </a:rPr>
              <a:t>06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51560"/>
            <a:ext cx="31546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5760720" y="1051560"/>
            <a:ext cx="64008" cy="841248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897880" y="11064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0.91  Bounce &amp; Exit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97880" y="139903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redundancia — se combinaron para reducir multicolinealidad.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2011680"/>
            <a:ext cx="31546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5760720" y="2011680"/>
            <a:ext cx="64008" cy="841248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5897880" y="20665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0.86  Páginas &amp; Duración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97880" y="23591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más páginas = más tiempo. Se captura con total_pages.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60720" y="2971800"/>
            <a:ext cx="31546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5760720" y="2971800"/>
            <a:ext cx="64008" cy="841248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5897880" y="30266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0.49  PageValues &amp; Revenue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97880" y="331927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más fuerte con el target — variable clave del modelo.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760720" y="3931920"/>
            <a:ext cx="31546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5760720" y="3931920"/>
            <a:ext cx="64008" cy="841248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5897880" y="39867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-0.31  BounceRates &amp; Revenue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97880" y="427939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tasa de rebote asociada a menor probabilidad de compra.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Variables Derivadas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425"/>
                </a:solidFill>
              </a:rPr>
              <a:t>07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011680" cy="256032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01752" y="14173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total_duration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752" y="1901952"/>
            <a:ext cx="1874520" cy="59436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Admin_Dur + Info_Dur + Product_Dur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1752" y="2606040"/>
            <a:ext cx="1874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tiempo total navegó el usuario. Sesiones con compra tienden a ser más largas.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423160" y="1097280"/>
            <a:ext cx="2011680" cy="256032"/>
          </a:xfrm>
          <a:prstGeom prst="rect">
            <a:avLst/>
          </a:prstGeom>
          <a:solidFill>
            <a:srgbClr val="2D6F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496312" y="14173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product_time_ratio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496312" y="1901952"/>
            <a:ext cx="1874520" cy="59436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51460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Product_Dur / total_duration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96312" y="2606040"/>
            <a:ext cx="1874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del tiempo enfocada en productos. Mide la intención de compra implícita.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109728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617720" y="1097280"/>
            <a:ext cx="2011680" cy="256032"/>
          </a:xfrm>
          <a:prstGeom prst="rect">
            <a:avLst/>
          </a:prstGeom>
          <a:solidFill>
            <a:srgbClr val="28A0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690872" y="14173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bounce_exit_avg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1901952"/>
            <a:ext cx="1874520" cy="59436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70916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(BounceRates + ExitRates) / 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90872" y="2606040"/>
            <a:ext cx="1874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dos variables altamente correlacionadas (r=0.91) en una sola, reduciendo redundancia.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12280" y="109728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6812280" y="1097280"/>
            <a:ext cx="2011680" cy="256032"/>
          </a:xfrm>
          <a:prstGeom prst="rect">
            <a:avLst/>
          </a:prstGeom>
          <a:solidFill>
            <a:srgbClr val="F4A4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885432" y="14173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total_pages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85432" y="1901952"/>
            <a:ext cx="1874520" cy="59436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90372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+ Informational + ProductRelated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85432" y="2606040"/>
            <a:ext cx="1874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páginas vistas en la sesión. Indicador de compromiso con el sitio.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originales se mantienen + las 4 nuevas → 21 features en total para el modelo.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Modelado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425"/>
                </a:solidFill>
              </a:rPr>
              <a:t>08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08760" cy="2286000"/>
          </a:xfrm>
          <a:prstGeom prst="rect">
            <a:avLst/>
          </a:prstGeom>
          <a:solidFill>
            <a:srgbClr val="1B2A6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2212848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→ número de mes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VisitorType → 0/1/2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→ 0/1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2240280"/>
            <a:ext cx="228600" cy="109728"/>
          </a:xfrm>
          <a:prstGeom prst="rect">
            <a:avLst/>
          </a:prstGeom>
          <a:solidFill>
            <a:srgbClr val="F4A4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011680" y="1188720"/>
            <a:ext cx="1508760" cy="2286000"/>
          </a:xfrm>
          <a:prstGeom prst="rect">
            <a:avLst/>
          </a:prstGeom>
          <a:solidFill>
            <a:srgbClr val="1B2A6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011680" y="1234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57400" y="17373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75688" y="2212848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(resistente a outliers)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2240280"/>
            <a:ext cx="228600" cy="109728"/>
          </a:xfrm>
          <a:prstGeom prst="rect">
            <a:avLst/>
          </a:prstGeom>
          <a:solidFill>
            <a:srgbClr val="F4A4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749040" y="1188720"/>
            <a:ext cx="1508760" cy="2286000"/>
          </a:xfrm>
          <a:prstGeom prst="rect">
            <a:avLst/>
          </a:prstGeom>
          <a:solidFill>
            <a:srgbClr val="1B2A6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749040" y="1234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94760" y="17373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13048" y="2212848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mantener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2240280"/>
            <a:ext cx="228600" cy="109728"/>
          </a:xfrm>
          <a:prstGeom prst="rect">
            <a:avLst/>
          </a:prstGeom>
          <a:solidFill>
            <a:srgbClr val="F4A4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5486400" y="1188720"/>
            <a:ext cx="1508760" cy="2286000"/>
          </a:xfrm>
          <a:prstGeom prst="rect">
            <a:avLst/>
          </a:prstGeom>
          <a:solidFill>
            <a:srgbClr val="1B2A6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486400" y="1234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17373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95%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0408" y="2212848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21 vars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solo 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95160" y="2240280"/>
            <a:ext cx="228600" cy="109728"/>
          </a:xfrm>
          <a:prstGeom prst="rect">
            <a:avLst/>
          </a:prstGeom>
          <a:solidFill>
            <a:srgbClr val="F4A4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7223760" y="1188720"/>
            <a:ext cx="1508760" cy="2286000"/>
          </a:xfrm>
          <a:prstGeom prst="rect">
            <a:avLst/>
          </a:prstGeom>
          <a:solidFill>
            <a:srgbClr val="1B2A6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7223760" y="1234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69480" y="17373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 Regresión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87768" y="2212848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='balanced'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lbfgs solver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274320" y="3703320"/>
            <a:ext cx="2743200" cy="64008"/>
          </a:xfrm>
          <a:prstGeom prst="rect">
            <a:avLst/>
          </a:prstGeom>
          <a:solidFill>
            <a:srgbClr val="28A0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65760" y="3822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RobustScaler?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169664"/>
            <a:ext cx="2560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outliers extremos (e.g., sesiones de +2h) distorsionan StandardScaler. RobustScaler usa mediana e IQR.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46120" y="3703320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3246120" y="3703320"/>
            <a:ext cx="2743200" cy="64008"/>
          </a:xfrm>
          <a:prstGeom prst="rect">
            <a:avLst/>
          </a:prstGeom>
          <a:solidFill>
            <a:srgbClr val="28A0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337560" y="3822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PCA antes del modelo?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37560" y="4169664"/>
            <a:ext cx="2560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dimensionalidad y multicolinealidad. Se ajusta SOLO en train para evitar data leakage.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0" y="3703320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6217920" y="3703320"/>
            <a:ext cx="2743200" cy="64008"/>
          </a:xfrm>
          <a:prstGeom prst="rect">
            <a:avLst/>
          </a:prstGeom>
          <a:solidFill>
            <a:srgbClr val="28A0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309360" y="3822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class_weight='balanced'?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4169664"/>
            <a:ext cx="2560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este ajuste, el modelo predice siempre 'no compra' y obtiene 84.5% de accuracy sin valor real.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Modelo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425"/>
                </a:solidFill>
              </a:rPr>
              <a:t>09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97480" cy="1920240"/>
          </a:xfrm>
          <a:prstGeom prst="rect">
            <a:avLst/>
          </a:prstGeom>
          <a:solidFill>
            <a:srgbClr val="1B2A6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(Validación Cruzada)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5420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capacidad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discriminación entre clases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97480" cy="1920240"/>
          </a:xfrm>
          <a:prstGeom prst="rect">
            <a:avLst/>
          </a:prstGeom>
          <a:solidFill>
            <a:srgbClr val="1B2A6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200400" y="1170432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91840" y="2029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(clase Compra)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5420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precision-recall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clase minoritaria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97480" cy="1920240"/>
          </a:xfrm>
          <a:prstGeom prst="rect">
            <a:avLst/>
          </a:prstGeom>
          <a:solidFill>
            <a:srgbClr val="1B2A6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126480" y="1170432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2029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5420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estables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todos los folds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2004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errores del modelo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82296" cy="1188720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38912" y="37307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Falso Negativo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41148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de compra no detectadas → oportunidades de venta perdidas. El error que más duele al negocio.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6576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82296" cy="1188720"/>
          </a:xfrm>
          <a:prstGeom prst="rect">
            <a:avLst/>
          </a:prstGeom>
          <a:solidFill>
            <a:srgbClr val="F4A4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919472" y="37307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Falso Positivo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41148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sin compra clasificadas como compra → acciones de marketing desperdiciadas, pero de bajo costo.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A4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302042" y="201168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57400" y="1384413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 es la variable con mayor poder predictivo — las métricas de Google Analytics capturan intención de compra mejor que los conteos de páginas.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57400" y="2275550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 concentra el mayor volumen de compras (Black Friday). Febrero es el mes de menor actividad — útil para planificar campañas.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57400" y="3078790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regresión logística con PCA logra un AUC-ROC ~0.90 en validación cruzada, con resultados estables entre folds.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57400" y="3882030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PageValues solo tiene valor distinto de cero cuando la sesión ya está avanzada — para scoring en tiempo real habría que evaluar el modelo sin esta variable.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955</Words>
  <Application>Microsoft Macintosh PowerPoint</Application>
  <PresentationFormat>Presentación en pantalla 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Comportamiento de Compra Online</dc:title>
  <dc:subject>PptxGenJS Presentation</dc:subject>
  <dc:creator>PptxGenJS</dc:creator>
  <cp:lastModifiedBy>Catherine Ceballos Bedoya</cp:lastModifiedBy>
  <cp:revision>2</cp:revision>
  <dcterms:created xsi:type="dcterms:W3CDTF">2026-05-04T00:44:24Z</dcterms:created>
  <dcterms:modified xsi:type="dcterms:W3CDTF">2026-05-04T01:59:12Z</dcterms:modified>
</cp:coreProperties>
</file>